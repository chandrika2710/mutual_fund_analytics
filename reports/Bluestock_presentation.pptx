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28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22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854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26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2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05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7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974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95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37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3892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20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4131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605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858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33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092A3-FB9F-4C24-AA6F-7586EC5A927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0F646B-12B6-4989-97F1-3CF2642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31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268B-462A-AA3F-8C72-735C79DAD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70115"/>
            <a:ext cx="8577943" cy="1230086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 Dashboard using Python, SQLite, SQL and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CC2A4-41E2-0364-957F-06556A159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11829"/>
            <a:ext cx="7772400" cy="3145971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Chandrika Katakam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Vignan's Lara Institute of Technology and Science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109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7CF9-0F95-D667-7779-204F1690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40D7A-AC08-9168-026E-89D1E20B3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funds are one of the most popular investment options.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Investors often find it difficult to compare funds based on returns and risk.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analysis is time-consuming and prone to errors.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automates mutual fund data analysis using Python, SQLite, SQL, and Power BI.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meaningful insights and investment recommendations through interactive dashboards.</a:t>
            </a:r>
          </a:p>
        </p:txBody>
      </p:sp>
    </p:spTree>
    <p:extLst>
      <p:ext uri="{BB962C8B-B14F-4D97-AF65-F5344CB8AC3E}">
        <p14:creationId xmlns:p14="http://schemas.microsoft.com/office/powerpoint/2010/main" val="319518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8356-F95F-C2EC-E425-7DB10DC6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8F4C-57BD-8170-456E-F7054E2E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mutual fund data make manual analysis difficult.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Investors need to evaluate multiple financial metrics before investing.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analysis methods are time-consuming and fragmented.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analytics system that simplifies mutual fund analysis and supports informed investment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3573206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E64A-696B-3701-5959-97FF26B6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9F5A1-5DAF-8B4E-699D-FBEDF1638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mutual fund datasets.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cleaning and preprocessing.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data in SQLite.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(EDA).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Calculate financial performance metrics.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interactive Power BI dashboards. Generate investment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88422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8A3A-0645-F521-3699-5F4D5922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IN" dirty="0"/>
              <a:t>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141ED0-E67A-B102-EC8A-742F4E1EF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084324"/>
              </p:ext>
            </p:extLst>
          </p:nvPr>
        </p:nvGraphicFramePr>
        <p:xfrm>
          <a:off x="1132114" y="1714274"/>
          <a:ext cx="7734041" cy="3913944"/>
        </p:xfrm>
        <a:graphic>
          <a:graphicData uri="http://schemas.openxmlformats.org/drawingml/2006/table">
            <a:tbl>
              <a:tblPr/>
              <a:tblGrid>
                <a:gridCol w="3126774">
                  <a:extLst>
                    <a:ext uri="{9D8B030D-6E8A-4147-A177-3AD203B41FA5}">
                      <a16:colId xmlns:a16="http://schemas.microsoft.com/office/drawing/2014/main" val="3285115444"/>
                    </a:ext>
                  </a:extLst>
                </a:gridCol>
                <a:gridCol w="4607267">
                  <a:extLst>
                    <a:ext uri="{9D8B030D-6E8A-4147-A177-3AD203B41FA5}">
                      <a16:colId xmlns:a16="http://schemas.microsoft.com/office/drawing/2014/main" val="3298246840"/>
                    </a:ext>
                  </a:extLst>
                </a:gridCol>
              </a:tblGrid>
              <a:tr h="4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 baseline="0" dirty="0">
                          <a:effectLst/>
                          <a:latin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 baseline="0" dirty="0">
                          <a:effectLst/>
                          <a:latin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14216"/>
                  </a:ext>
                </a:extLst>
              </a:tr>
              <a:tr h="4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 dirty="0"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Data Processing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074497"/>
                  </a:ext>
                </a:extLst>
              </a:tr>
              <a:tr h="4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Pandas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Data Analysis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411943"/>
                  </a:ext>
                </a:extLst>
              </a:tr>
              <a:tr h="4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NumPy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Numerical Computation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992216"/>
                  </a:ext>
                </a:extLst>
              </a:tr>
              <a:tr h="4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 dirty="0">
                          <a:effectLst/>
                          <a:latin typeface="Arial" panose="020B0604020202020204" pitchFamily="34" charset="0"/>
                        </a:rPr>
                        <a:t>SQLite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Database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391378"/>
                  </a:ext>
                </a:extLst>
              </a:tr>
              <a:tr h="4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SQL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Data Retrieval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375781"/>
                  </a:ext>
                </a:extLst>
              </a:tr>
              <a:tr h="4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Matplotlib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Visualization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951786"/>
                  </a:ext>
                </a:extLst>
              </a:tr>
              <a:tr h="4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Power BI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Dashboard Development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800210"/>
                  </a:ext>
                </a:extLst>
              </a:tr>
              <a:tr h="4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effectLst/>
                          <a:latin typeface="Arial" panose="020B0604020202020204" pitchFamily="34" charset="0"/>
                        </a:rPr>
                        <a:t>Jupyter Notebook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 dirty="0">
                          <a:effectLst/>
                          <a:latin typeface="Arial" panose="020B0604020202020204" pitchFamily="34" charset="0"/>
                        </a:rPr>
                        <a:t>Development Environment</a:t>
                      </a:r>
                    </a:p>
                  </a:txBody>
                  <a:tcPr marL="98016" marR="98016" marT="49008" marB="49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445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29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9EDE-53AB-7FB0-23D1-B3F4DA7C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8A059-F5AA-8332-4930-B909DC925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Collection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Ingestion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Performance Analytics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Advanced Analytics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</a:p>
        </p:txBody>
      </p:sp>
    </p:spTree>
    <p:extLst>
      <p:ext uri="{BB962C8B-B14F-4D97-AF65-F5344CB8AC3E}">
        <p14:creationId xmlns:p14="http://schemas.microsoft.com/office/powerpoint/2010/main" val="85899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ABC4-F967-288C-45BD-386EFA4B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F2D92-C547-A0CC-9818-C7F165967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CAGR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Sharpe Ratio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Sortino Ratio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Drawdown 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Evaluate both return and investment risk for mutual fund schemes.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617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8AD6-C038-BA50-7D61-32769C80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484" y="609600"/>
            <a:ext cx="2930518" cy="1320800"/>
          </a:xfrm>
        </p:spPr>
        <p:txBody>
          <a:bodyPr anchor="ctr">
            <a:normAutofit/>
          </a:bodyPr>
          <a:lstStyle/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BCF726-F3E0-B198-C55D-91B561A00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60" y="609600"/>
            <a:ext cx="4955707" cy="2601747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7107156-C629-F503-00A3-42659791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3484" y="2013857"/>
            <a:ext cx="2930517" cy="4027505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1 – Executive Summary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Funds ,Average Returns, Total AUM ,NAV Trend, Overall Mutual Fund Overview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2 – Fund Performance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CAGR Comparison ,Sharpe Ratio Analysis ,Sortino Ratio Analysis ,Alpha &amp; Beta Comparison ,Fund Performance Evaluation 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7AD587-DE25-06FD-8A62-7B3AD3F6E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95" y="3439020"/>
            <a:ext cx="4956839" cy="26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77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5292-68B1-A2F5-6798-E9B8A9BA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484" y="609600"/>
            <a:ext cx="2930518" cy="1320800"/>
          </a:xfrm>
        </p:spPr>
        <p:txBody>
          <a:bodyPr anchor="ctr"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6F29DE-3E94-9431-7274-13724BC45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60" y="609600"/>
            <a:ext cx="4955707" cy="2601747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C25E3DF-D1FD-DAD1-5744-336C8843C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3484" y="2160589"/>
            <a:ext cx="2930517" cy="3880773"/>
          </a:xfrm>
        </p:spPr>
        <p:txBody>
          <a:bodyPr>
            <a:normAutofit fontScale="92500" lnSpcReduction="20000"/>
          </a:bodyPr>
          <a:lstStyle/>
          <a:p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3 – Investor &amp; SIP Analysis</a:t>
            </a:r>
          </a:p>
          <a:p>
            <a:pPr marL="0" indent="0">
              <a:buNone/>
            </a:pP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SIP Inflows ,Category-wise Inflows, Investor Transactions, Investment Trends, Investor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4 – Benchmark &amp; Risk Analysis</a:t>
            </a:r>
          </a:p>
          <a:p>
            <a:pPr marL="0" indent="0">
              <a:buNone/>
            </a:pP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Drawdown, Benchmark Comparison ,Top Performing Funds ,Risk Distribution ,Risk Assessment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665831-BA7E-A7CA-F088-F50A33719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95" y="3439020"/>
            <a:ext cx="4956839" cy="26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23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B5D99-B006-6CFD-B504-60C2C5E67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F320E-CC21-8C98-0277-794217CD8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collected and processed mutual fund datasets.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an automated ETL pipeline.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cleaned data in SQLite.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financial performance metrics.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interactive Power BI dashboards.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mutual fund recommendations.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Enabled data-driven investment analysis.</a:t>
            </a:r>
          </a:p>
        </p:txBody>
      </p:sp>
    </p:spTree>
    <p:extLst>
      <p:ext uri="{BB962C8B-B14F-4D97-AF65-F5344CB8AC3E}">
        <p14:creationId xmlns:p14="http://schemas.microsoft.com/office/powerpoint/2010/main" val="3093541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345F-58F8-559D-9712-5C2B1CD6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FDFE3-E00C-5607-4FCE-C1B11A9A9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complete Mutual Fund Analytics solution.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Python, SQL, SQLite, and Power BI.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the complete data analytics workflow.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Provided meaningful financial insights.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 better investment decision-making.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570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D938-8A75-AB26-CE84-B98A6220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2662F-A515-BF67-9783-8A2F67021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 refresh.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recommendation system.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deployment.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integration.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0336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F2C5-F825-46B7-A5CD-FD97C37B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5F43-EC0B-A124-4DA9-292F1970D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446382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482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Times New Roman</vt:lpstr>
      <vt:lpstr>Trebuchet MS</vt:lpstr>
      <vt:lpstr>Wingdings</vt:lpstr>
      <vt:lpstr>Wingdings 3</vt:lpstr>
      <vt:lpstr>Facet</vt:lpstr>
      <vt:lpstr>Mutual Fund Analytics Dashboard using Python, SQLite, SQL and Power BI</vt:lpstr>
      <vt:lpstr>                  INTRODUCTION</vt:lpstr>
      <vt:lpstr>                Problem Statement</vt:lpstr>
      <vt:lpstr>                        Objectives</vt:lpstr>
      <vt:lpstr>               Technologies Used</vt:lpstr>
      <vt:lpstr>              Project Workflow</vt:lpstr>
      <vt:lpstr>              Performance Analytics</vt:lpstr>
      <vt:lpstr>  Power BI Dashboard</vt:lpstr>
      <vt:lpstr>Power BI Dashboard</vt:lpstr>
      <vt:lpstr>                             Results</vt:lpstr>
      <vt:lpstr>                             Conclusion</vt:lpstr>
      <vt:lpstr>              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Chandrika Katakam</dc:creator>
  <cp:lastModifiedBy>Chandrika Katakam</cp:lastModifiedBy>
  <cp:revision>1</cp:revision>
  <dcterms:created xsi:type="dcterms:W3CDTF">2026-07-08T12:30:53Z</dcterms:created>
  <dcterms:modified xsi:type="dcterms:W3CDTF">2026-07-08T13:01:01Z</dcterms:modified>
</cp:coreProperties>
</file>